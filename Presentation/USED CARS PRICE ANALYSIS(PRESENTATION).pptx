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8"/>
  </p:notesMasterIdLst>
  <p:handoutMasterIdLst>
    <p:handoutMasterId r:id="rId19"/>
  </p:handoutMasterIdLst>
  <p:sldIdLst>
    <p:sldId id="312" r:id="rId5"/>
    <p:sldId id="304" r:id="rId6"/>
    <p:sldId id="307" r:id="rId7"/>
    <p:sldId id="281" r:id="rId8"/>
    <p:sldId id="282" r:id="rId9"/>
    <p:sldId id="314" r:id="rId10"/>
    <p:sldId id="315" r:id="rId11"/>
    <p:sldId id="317" r:id="rId12"/>
    <p:sldId id="318" r:id="rId13"/>
    <p:sldId id="319" r:id="rId14"/>
    <p:sldId id="321" r:id="rId15"/>
    <p:sldId id="322" r:id="rId16"/>
    <p:sldId id="297" r:id="rId17"/>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ea typeface="Cambria Math" panose="02040503050406030204" pitchFamily="18" charset="0"/>
              </a:rPr>
              <a:t>USED CARS PRICE ANALYSIS</a:t>
            </a:r>
            <a:endParaRPr lang="en-US" dirty="0"/>
          </a:p>
        </p:txBody>
      </p:sp>
      <p:sp>
        <p:nvSpPr>
          <p:cNvPr id="3" name="TextBox 2">
            <a:extLst>
              <a:ext uri="{FF2B5EF4-FFF2-40B4-BE49-F238E27FC236}">
                <a16:creationId xmlns:a16="http://schemas.microsoft.com/office/drawing/2014/main" id="{61C648F0-C192-B5BA-94F9-30BCAC3032FE}"/>
              </a:ext>
            </a:extLst>
          </p:cNvPr>
          <p:cNvSpPr txBox="1"/>
          <p:nvPr/>
        </p:nvSpPr>
        <p:spPr>
          <a:xfrm>
            <a:off x="8003458" y="5201265"/>
            <a:ext cx="2635045" cy="646331"/>
          </a:xfrm>
          <a:prstGeom prst="rect">
            <a:avLst/>
          </a:prstGeom>
          <a:noFill/>
        </p:spPr>
        <p:txBody>
          <a:bodyPr wrap="square" rtlCol="0">
            <a:spAutoFit/>
          </a:bodyPr>
          <a:lstStyle/>
          <a:p>
            <a:r>
              <a:rPr lang="en-IN" dirty="0">
                <a:solidFill>
                  <a:schemeClr val="bg1"/>
                </a:solidFill>
                <a:latin typeface="+mj-lt"/>
              </a:rPr>
              <a:t>PRESENTED BY :</a:t>
            </a:r>
          </a:p>
          <a:p>
            <a:r>
              <a:rPr lang="en-IN" dirty="0" err="1">
                <a:solidFill>
                  <a:schemeClr val="bg1"/>
                </a:solidFill>
                <a:latin typeface="+mj-lt"/>
              </a:rPr>
              <a:t>A.S.S.V.Akshai</a:t>
            </a:r>
            <a:endParaRPr lang="en-IN" dirty="0">
              <a:solidFill>
                <a:schemeClr val="bg1"/>
              </a:solidFill>
              <a:latin typeface="+mj-lt"/>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457199"/>
            <a:ext cx="6583680" cy="765678"/>
          </a:xfrm>
        </p:spPr>
        <p:txBody>
          <a:bodyPr/>
          <a:lstStyle/>
          <a:p>
            <a:r>
              <a:rPr lang="en-US" dirty="0">
                <a:ea typeface="Cambria Math" panose="02040503050406030204" pitchFamily="18" charset="0"/>
              </a:rPr>
              <a:t>OVERVIEW</a:t>
            </a:r>
            <a:endParaRPr lang="en-US" dirty="0"/>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399" y="1573161"/>
            <a:ext cx="6971071" cy="4468823"/>
          </a:xfrm>
        </p:spPr>
        <p:txBody>
          <a:bodyPr>
            <a:normAutofit fontScale="70000" lnSpcReduction="20000"/>
          </a:bodyPr>
          <a:lstStyle/>
          <a:p>
            <a:pPr algn="just">
              <a:spcAft>
                <a:spcPts val="600"/>
              </a:spcAft>
            </a:pPr>
            <a:r>
              <a:rPr lang="en-US" dirty="0">
                <a:ea typeface="Cambria Math" panose="02040503050406030204" pitchFamily="18" charset="0"/>
              </a:rPr>
              <a:t>The used car market in India has grown rapidly, offering an affordable alternative for consumers looking for high-quality vehicles at lower prices. Platforms like Cars24 provide a comprehensive listing of used cars, including various car companies, fuel types, and transmission systems. This project analyzes the variation in car prices across different factors to help consumers make better decisions when purchasing used cars. However, the price of used cars can vary significantly based on numerous factors such as: </a:t>
            </a:r>
          </a:p>
          <a:p>
            <a:pPr marL="285750" indent="-285750" algn="just">
              <a:spcAft>
                <a:spcPts val="600"/>
              </a:spcAft>
              <a:buFont typeface="Wingdings" panose="05000000000000000000" pitchFamily="2" charset="2"/>
              <a:buChar char="Ø"/>
            </a:pPr>
            <a:r>
              <a:rPr lang="en-US" dirty="0">
                <a:ea typeface="Cambria Math" panose="02040503050406030204" pitchFamily="18" charset="0"/>
              </a:rPr>
              <a:t>Company Name </a:t>
            </a:r>
          </a:p>
          <a:p>
            <a:pPr marL="285750" indent="-285750" algn="just">
              <a:spcAft>
                <a:spcPts val="600"/>
              </a:spcAft>
              <a:buFont typeface="Wingdings" panose="05000000000000000000" pitchFamily="2" charset="2"/>
              <a:buChar char="Ø"/>
            </a:pPr>
            <a:r>
              <a:rPr lang="en-US" dirty="0">
                <a:ea typeface="Cambria Math" panose="02040503050406030204" pitchFamily="18" charset="0"/>
              </a:rPr>
              <a:t>Fuel Type </a:t>
            </a:r>
          </a:p>
          <a:p>
            <a:pPr marL="285750" indent="-285750" algn="just">
              <a:spcAft>
                <a:spcPts val="600"/>
              </a:spcAft>
              <a:buFont typeface="Wingdings" panose="05000000000000000000" pitchFamily="2" charset="2"/>
              <a:buChar char="Ø"/>
            </a:pPr>
            <a:r>
              <a:rPr lang="en-US" dirty="0">
                <a:ea typeface="Cambria Math" panose="02040503050406030204" pitchFamily="18" charset="0"/>
              </a:rPr>
              <a:t>Distance Driven </a:t>
            </a:r>
          </a:p>
          <a:p>
            <a:pPr marL="285750" indent="-285750" algn="just">
              <a:spcAft>
                <a:spcPts val="600"/>
              </a:spcAft>
              <a:buFont typeface="Wingdings" panose="05000000000000000000" pitchFamily="2" charset="2"/>
              <a:buChar char="Ø"/>
            </a:pPr>
            <a:r>
              <a:rPr lang="en-US" dirty="0">
                <a:ea typeface="Cambria Math" panose="02040503050406030204" pitchFamily="18" charset="0"/>
              </a:rPr>
              <a:t>Prices</a:t>
            </a:r>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1">
            <a:extLst>
              <a:ext uri="{FF2B5EF4-FFF2-40B4-BE49-F238E27FC236}">
                <a16:creationId xmlns:a16="http://schemas.microsoft.com/office/drawing/2014/main" id="{E6315245-137F-ADA0-4C8A-DE018B28E076}"/>
              </a:ext>
            </a:extLst>
          </p:cNvPr>
          <p:cNvSpPr txBox="1"/>
          <p:nvPr/>
        </p:nvSpPr>
        <p:spPr>
          <a:xfrm>
            <a:off x="3691812" y="430561"/>
            <a:ext cx="4198776"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solidFill>
                  <a:schemeClr val="accent6"/>
                </a:solidFill>
                <a:latin typeface="+mj-lt"/>
                <a:ea typeface="Cambria Math" panose="02040503050406030204" pitchFamily="18" charset="0"/>
              </a:rPr>
              <a:t>OBJECTIVES</a:t>
            </a:r>
            <a:endParaRPr lang="en-IN" sz="3600" b="1" dirty="0">
              <a:solidFill>
                <a:schemeClr val="accent6"/>
              </a:solidFill>
              <a:latin typeface="+mj-lt"/>
              <a:ea typeface="Cambria Math" panose="02040503050406030204" pitchFamily="18" charset="0"/>
            </a:endParaRPr>
          </a:p>
        </p:txBody>
      </p:sp>
      <p:sp>
        <p:nvSpPr>
          <p:cNvPr id="9" name="TextBox 2">
            <a:extLst>
              <a:ext uri="{FF2B5EF4-FFF2-40B4-BE49-F238E27FC236}">
                <a16:creationId xmlns:a16="http://schemas.microsoft.com/office/drawing/2014/main" id="{6F14EBA8-9F88-9569-2CB8-A9C20D9F141E}"/>
              </a:ext>
            </a:extLst>
          </p:cNvPr>
          <p:cNvSpPr txBox="1"/>
          <p:nvPr/>
        </p:nvSpPr>
        <p:spPr>
          <a:xfrm>
            <a:off x="1127248" y="1344986"/>
            <a:ext cx="9563878" cy="280525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lnSpc>
                <a:spcPct val="150000"/>
              </a:lnSpc>
            </a:pPr>
            <a:r>
              <a:rPr lang="en-US" sz="2000" dirty="0">
                <a:solidFill>
                  <a:schemeClr val="accent6"/>
                </a:solidFill>
                <a:latin typeface="Cambria Math" panose="02040503050406030204" pitchFamily="18" charset="0"/>
                <a:ea typeface="Cambria Math" panose="02040503050406030204" pitchFamily="18" charset="0"/>
              </a:rPr>
              <a:t>The primary objectives of this project are: </a:t>
            </a:r>
          </a:p>
          <a:p>
            <a:pPr marL="342900" indent="-342900" algn="just">
              <a:lnSpc>
                <a:spcPct val="150000"/>
              </a:lnSpc>
              <a:buFont typeface="Wingdings" panose="05000000000000000000" pitchFamily="2" charset="2"/>
              <a:buChar char="Ø"/>
            </a:pPr>
            <a:r>
              <a:rPr lang="en-US" sz="2000" dirty="0">
                <a:solidFill>
                  <a:schemeClr val="accent6"/>
                </a:solidFill>
                <a:latin typeface="Cambria Math" panose="02040503050406030204" pitchFamily="18" charset="0"/>
                <a:ea typeface="Cambria Math" panose="02040503050406030204" pitchFamily="18" charset="0"/>
              </a:rPr>
              <a:t>To analyze car price </a:t>
            </a:r>
            <a:r>
              <a:rPr lang="en-US" sz="2000" dirty="0">
                <a:solidFill>
                  <a:schemeClr val="accent6"/>
                </a:solidFill>
                <a:ea typeface="Cambria Math" panose="02040503050406030204" pitchFamily="18" charset="0"/>
              </a:rPr>
              <a:t>variation</a:t>
            </a:r>
            <a:r>
              <a:rPr lang="en-US" sz="2000" dirty="0">
                <a:solidFill>
                  <a:schemeClr val="accent6"/>
                </a:solidFill>
                <a:latin typeface="Cambria Math" panose="02040503050406030204" pitchFamily="18" charset="0"/>
                <a:ea typeface="Cambria Math" panose="02040503050406030204" pitchFamily="18" charset="0"/>
              </a:rPr>
              <a:t> across different companies in the used car market. </a:t>
            </a:r>
          </a:p>
          <a:p>
            <a:pPr marL="342900" indent="-342900" algn="just">
              <a:lnSpc>
                <a:spcPct val="150000"/>
              </a:lnSpc>
              <a:buFont typeface="Wingdings" panose="05000000000000000000" pitchFamily="2" charset="2"/>
              <a:buChar char="Ø"/>
            </a:pPr>
            <a:r>
              <a:rPr lang="en-US" sz="2000" dirty="0">
                <a:solidFill>
                  <a:schemeClr val="accent6"/>
                </a:solidFill>
                <a:latin typeface="Cambria Math" panose="02040503050406030204" pitchFamily="18" charset="0"/>
                <a:ea typeface="Cambria Math" panose="02040503050406030204" pitchFamily="18" charset="0"/>
              </a:rPr>
              <a:t> To identify cars that provide good quality at a lower price (value-for-money cars).</a:t>
            </a:r>
          </a:p>
          <a:p>
            <a:pPr marL="342900" indent="-342900" algn="just">
              <a:lnSpc>
                <a:spcPct val="150000"/>
              </a:lnSpc>
              <a:buFont typeface="Wingdings" panose="05000000000000000000" pitchFamily="2" charset="2"/>
              <a:buChar char="Ø"/>
            </a:pPr>
            <a:r>
              <a:rPr lang="en-US" sz="2000" dirty="0">
                <a:solidFill>
                  <a:schemeClr val="accent6"/>
                </a:solidFill>
                <a:latin typeface="Cambria Math" panose="02040503050406030204" pitchFamily="18" charset="0"/>
                <a:ea typeface="Cambria Math" panose="02040503050406030204" pitchFamily="18" charset="0"/>
              </a:rPr>
              <a:t>To study the impact of factors such as car age, distance driven, fuel type and transmission on car prices. </a:t>
            </a:r>
          </a:p>
          <a:p>
            <a:pPr marL="342900" indent="-342900" algn="just">
              <a:lnSpc>
                <a:spcPct val="150000"/>
              </a:lnSpc>
              <a:buFont typeface="Wingdings" panose="05000000000000000000" pitchFamily="2" charset="2"/>
              <a:buChar char="Ø"/>
            </a:pPr>
            <a:r>
              <a:rPr lang="en-US" sz="2000" dirty="0">
                <a:solidFill>
                  <a:schemeClr val="accent6"/>
                </a:solidFill>
                <a:latin typeface="Cambria Math" panose="02040503050406030204" pitchFamily="18" charset="0"/>
                <a:ea typeface="Cambria Math" panose="02040503050406030204" pitchFamily="18" charset="0"/>
              </a:rPr>
              <a:t>To study the company wise car availability in each city.</a:t>
            </a:r>
            <a:endParaRPr lang="en-IN" sz="2000" dirty="0">
              <a:solidFill>
                <a:schemeClr val="accent6"/>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60BC5DCC-A412-6FC6-ACC1-1DEB2B8DCDFB}"/>
              </a:ext>
            </a:extLst>
          </p:cNvPr>
          <p:cNvSpPr txBox="1"/>
          <p:nvPr/>
        </p:nvSpPr>
        <p:spPr>
          <a:xfrm>
            <a:off x="3502640" y="612847"/>
            <a:ext cx="4928270"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solidFill>
                  <a:schemeClr val="accent6"/>
                </a:solidFill>
                <a:latin typeface="+mj-lt"/>
                <a:ea typeface="Cambria Math" panose="02040503050406030204" pitchFamily="18" charset="0"/>
              </a:rPr>
              <a:t>METHODOLOGY</a:t>
            </a:r>
          </a:p>
        </p:txBody>
      </p:sp>
      <p:sp>
        <p:nvSpPr>
          <p:cNvPr id="8" name="TextBox 2">
            <a:extLst>
              <a:ext uri="{FF2B5EF4-FFF2-40B4-BE49-F238E27FC236}">
                <a16:creationId xmlns:a16="http://schemas.microsoft.com/office/drawing/2014/main" id="{8DF2C8C6-2B78-03DF-39DA-2EC67520EDDF}"/>
              </a:ext>
            </a:extLst>
          </p:cNvPr>
          <p:cNvSpPr txBox="1"/>
          <p:nvPr/>
        </p:nvSpPr>
        <p:spPr>
          <a:xfrm>
            <a:off x="514889" y="1719756"/>
            <a:ext cx="5451886" cy="474424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50000"/>
              </a:lnSpc>
            </a:pPr>
            <a:r>
              <a:rPr lang="en-IN" sz="2400" b="1" dirty="0">
                <a:solidFill>
                  <a:schemeClr val="accent6"/>
                </a:solidFill>
                <a:ea typeface="Cambria Math" panose="02040503050406030204" pitchFamily="18" charset="0"/>
                <a:cs typeface="Times New Roman" panose="02020603050405020304" pitchFamily="18" charset="0"/>
              </a:rPr>
              <a:t>DATA COLLECTION</a:t>
            </a:r>
          </a:p>
          <a:p>
            <a:pPr marL="342900" indent="-342900" algn="just">
              <a:lnSpc>
                <a:spcPct val="150000"/>
              </a:lnSpc>
              <a:buFont typeface="Wingdings" panose="05000000000000000000" pitchFamily="2" charset="2"/>
              <a:buChar char="Ø"/>
            </a:pPr>
            <a:r>
              <a:rPr lang="en-IN" sz="2000" dirty="0">
                <a:solidFill>
                  <a:schemeClr val="accent6"/>
                </a:solidFill>
                <a:ea typeface="Cambria Math" panose="02040503050406030204" pitchFamily="18" charset="0"/>
                <a:cs typeface="Times New Roman" panose="02020603050405020304" pitchFamily="18" charset="0"/>
              </a:rPr>
              <a:t>Utilized Python with Beautiful soup and selenium for web scrapping to gather detailed data on used car listings from Cars24 in different cities.</a:t>
            </a:r>
          </a:p>
          <a:p>
            <a:pPr marL="342900" indent="-342900" algn="just">
              <a:lnSpc>
                <a:spcPct val="150000"/>
              </a:lnSpc>
              <a:buFont typeface="Wingdings" panose="05000000000000000000" pitchFamily="2" charset="2"/>
              <a:buChar char="Ø"/>
            </a:pPr>
            <a:r>
              <a:rPr lang="en-IN" sz="2000" dirty="0">
                <a:solidFill>
                  <a:schemeClr val="accent6"/>
                </a:solidFill>
                <a:ea typeface="Cambria Math" panose="02040503050406030204" pitchFamily="18" charset="0"/>
                <a:cs typeface="Times New Roman" panose="02020603050405020304" pitchFamily="18" charset="0"/>
              </a:rPr>
              <a:t>Extracted key information including Company name, Year Of Manufacture, Fuel type, Distance Driven and Price.</a:t>
            </a:r>
          </a:p>
          <a:p>
            <a:pPr marL="342900" indent="-342900" algn="just">
              <a:lnSpc>
                <a:spcPct val="150000"/>
              </a:lnSpc>
              <a:buFont typeface="Wingdings" panose="05000000000000000000" pitchFamily="2" charset="2"/>
              <a:buChar char="Ø"/>
            </a:pPr>
            <a:r>
              <a:rPr lang="en-US" sz="2000" dirty="0">
                <a:solidFill>
                  <a:schemeClr val="accent6"/>
                </a:solidFill>
                <a:ea typeface="Cambria Math" panose="02040503050406030204" pitchFamily="18" charset="0"/>
              </a:rPr>
              <a:t>Analyzed market trends and pricing patterns of used cars across different cities.</a:t>
            </a:r>
            <a:endParaRPr lang="en-IN" sz="2000" dirty="0">
              <a:solidFill>
                <a:schemeClr val="accent6"/>
              </a:solidFill>
              <a:ea typeface="Cambria Math" panose="02040503050406030204" pitchFamily="18" charset="0"/>
              <a:cs typeface="Times New Roman" panose="02020603050405020304" pitchFamily="18" charset="0"/>
            </a:endParaRPr>
          </a:p>
        </p:txBody>
      </p:sp>
      <p:sp>
        <p:nvSpPr>
          <p:cNvPr id="9" name="TextBox 3">
            <a:extLst>
              <a:ext uri="{FF2B5EF4-FFF2-40B4-BE49-F238E27FC236}">
                <a16:creationId xmlns:a16="http://schemas.microsoft.com/office/drawing/2014/main" id="{733CEAAF-77A3-87ED-88C3-335BE1273AAD}"/>
              </a:ext>
            </a:extLst>
          </p:cNvPr>
          <p:cNvSpPr txBox="1"/>
          <p:nvPr/>
        </p:nvSpPr>
        <p:spPr>
          <a:xfrm>
            <a:off x="6364885" y="1693689"/>
            <a:ext cx="5312225" cy="420063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b="1" dirty="0">
                <a:solidFill>
                  <a:schemeClr val="accent6"/>
                </a:solidFill>
                <a:ea typeface="Cambria Math" panose="02040503050406030204" pitchFamily="18" charset="0"/>
              </a:rPr>
              <a:t>DATA CLEANING</a:t>
            </a:r>
            <a:endParaRPr lang="en-US" b="1" dirty="0">
              <a:solidFill>
                <a:schemeClr val="accent6"/>
              </a:solidFill>
              <a:ea typeface="Cambria Math" panose="02040503050406030204" pitchFamily="18" charset="0"/>
            </a:endParaRPr>
          </a:p>
          <a:p>
            <a:pPr marL="285750" indent="-285750" algn="just">
              <a:lnSpc>
                <a:spcPct val="150000"/>
              </a:lnSpc>
              <a:buFont typeface="Wingdings" panose="05000000000000000000" pitchFamily="2" charset="2"/>
              <a:buChar char="Ø"/>
            </a:pPr>
            <a:r>
              <a:rPr lang="en-US" sz="2000" dirty="0">
                <a:solidFill>
                  <a:schemeClr val="accent6"/>
                </a:solidFill>
                <a:ea typeface="Cambria Math" panose="02040503050406030204" pitchFamily="18" charset="0"/>
              </a:rPr>
              <a:t>After collecting the raw data, the next step is Data cleaning. The goal of this phase is to ensure the dataset is free from errors, missing values, and </a:t>
            </a:r>
            <a:r>
              <a:rPr lang="en-US" sz="2400" dirty="0">
                <a:solidFill>
                  <a:schemeClr val="accent6"/>
                </a:solidFill>
                <a:ea typeface="Cambria Math" panose="02040503050406030204" pitchFamily="18" charset="0"/>
              </a:rPr>
              <a:t>irrelevant</a:t>
            </a:r>
            <a:r>
              <a:rPr lang="en-US" sz="2000" dirty="0">
                <a:solidFill>
                  <a:schemeClr val="accent6"/>
                </a:solidFill>
                <a:ea typeface="Cambria Math" panose="02040503050406030204" pitchFamily="18" charset="0"/>
              </a:rPr>
              <a:t> information. </a:t>
            </a:r>
          </a:p>
          <a:p>
            <a:pPr marL="285750" indent="-285750" algn="just">
              <a:lnSpc>
                <a:spcPct val="150000"/>
              </a:lnSpc>
              <a:buFont typeface="Wingdings" panose="05000000000000000000" pitchFamily="2" charset="2"/>
              <a:buChar char="Ø"/>
            </a:pPr>
            <a:r>
              <a:rPr lang="en-US" sz="2000" dirty="0">
                <a:solidFill>
                  <a:schemeClr val="accent6"/>
                </a:solidFill>
                <a:ea typeface="Cambria Math" panose="02040503050406030204" pitchFamily="18" charset="0"/>
              </a:rPr>
              <a:t>Removing the Duplicates and the Null Values. </a:t>
            </a:r>
          </a:p>
          <a:p>
            <a:pPr marL="285750" indent="-285750" algn="just">
              <a:lnSpc>
                <a:spcPct val="150000"/>
              </a:lnSpc>
              <a:buFont typeface="Wingdings" panose="05000000000000000000" pitchFamily="2" charset="2"/>
              <a:buChar char="Ø"/>
            </a:pPr>
            <a:r>
              <a:rPr lang="en-US" sz="2000" dirty="0">
                <a:solidFill>
                  <a:schemeClr val="accent6"/>
                </a:solidFill>
                <a:ea typeface="Cambria Math" panose="02040503050406030204" pitchFamily="18" charset="0"/>
              </a:rPr>
              <a:t>Replacing the missing values with relevant placeholders.</a:t>
            </a: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892231" y="113070"/>
            <a:ext cx="1067589" cy="471489"/>
          </a:xfrm>
        </p:spPr>
        <p:txBody>
          <a:bodyPr/>
          <a:lstStyle/>
          <a:p>
            <a:fld id="{48F63A3B-78C7-47BE-AE5E-E10140E04643}" type="slidenum">
              <a:rPr lang="en-US" smtClean="0"/>
              <a:pPr/>
              <a:t>5</a:t>
            </a:fld>
            <a:endParaRPr lang="en-US" dirty="0"/>
          </a:p>
        </p:txBody>
      </p:sp>
      <p:sp>
        <p:nvSpPr>
          <p:cNvPr id="4" name="TextBox 1">
            <a:extLst>
              <a:ext uri="{FF2B5EF4-FFF2-40B4-BE49-F238E27FC236}">
                <a16:creationId xmlns:a16="http://schemas.microsoft.com/office/drawing/2014/main" id="{B08DD69F-900C-A988-4AF8-544864A3F835}"/>
              </a:ext>
            </a:extLst>
          </p:cNvPr>
          <p:cNvSpPr txBox="1"/>
          <p:nvPr/>
        </p:nvSpPr>
        <p:spPr>
          <a:xfrm>
            <a:off x="2930013" y="584559"/>
            <a:ext cx="3283974" cy="521630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b="1" dirty="0">
                <a:solidFill>
                  <a:schemeClr val="accent6"/>
                </a:solidFill>
                <a:ea typeface="Cambria Math" panose="02040503050406030204" pitchFamily="18" charset="0"/>
              </a:rPr>
              <a:t>DATA NORMALISATION</a:t>
            </a:r>
          </a:p>
          <a:p>
            <a:endParaRPr lang="en-US" dirty="0">
              <a:solidFill>
                <a:schemeClr val="accent6"/>
              </a:solidFill>
              <a:ea typeface="Cambria Math" panose="02040503050406030204" pitchFamily="18" charset="0"/>
            </a:endParaRPr>
          </a:p>
          <a:p>
            <a:pPr algn="just">
              <a:lnSpc>
                <a:spcPct val="150000"/>
              </a:lnSpc>
            </a:pPr>
            <a:r>
              <a:rPr lang="en-US" sz="2000" dirty="0">
                <a:solidFill>
                  <a:schemeClr val="accent6"/>
                </a:solidFill>
                <a:ea typeface="Cambria Math" panose="02040503050406030204" pitchFamily="18" charset="0"/>
              </a:rPr>
              <a:t>Normalizing prices and other numeric fields to standard formats. For example, prices are converted to a uniform format (in lakhs), and also Distance Driven values are converted into the numerical fields. </a:t>
            </a:r>
          </a:p>
        </p:txBody>
      </p:sp>
      <p:sp>
        <p:nvSpPr>
          <p:cNvPr id="5" name="TextBox 2">
            <a:extLst>
              <a:ext uri="{FF2B5EF4-FFF2-40B4-BE49-F238E27FC236}">
                <a16:creationId xmlns:a16="http://schemas.microsoft.com/office/drawing/2014/main" id="{86D87F3D-983C-3039-8D5E-FCA40F1288A5}"/>
              </a:ext>
            </a:extLst>
          </p:cNvPr>
          <p:cNvSpPr txBox="1"/>
          <p:nvPr/>
        </p:nvSpPr>
        <p:spPr>
          <a:xfrm>
            <a:off x="6685935" y="584559"/>
            <a:ext cx="5273884" cy="544764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b="1" dirty="0">
                <a:solidFill>
                  <a:schemeClr val="accent6"/>
                </a:solidFill>
                <a:ea typeface="Cambria Math" panose="02040503050406030204" pitchFamily="18" charset="0"/>
              </a:rPr>
              <a:t>DATA VISUALIZATION</a:t>
            </a:r>
          </a:p>
          <a:p>
            <a:pPr algn="just"/>
            <a:endParaRPr lang="en-US" dirty="0">
              <a:solidFill>
                <a:schemeClr val="accent6"/>
              </a:solidFill>
              <a:ea typeface="Cambria Math" panose="02040503050406030204" pitchFamily="18" charset="0"/>
            </a:endParaRPr>
          </a:p>
          <a:p>
            <a:pPr algn="just">
              <a:lnSpc>
                <a:spcPct val="150000"/>
              </a:lnSpc>
            </a:pPr>
            <a:r>
              <a:rPr lang="en-US" sz="2000" dirty="0">
                <a:solidFill>
                  <a:schemeClr val="accent6"/>
                </a:solidFill>
                <a:ea typeface="Cambria Math" panose="02040503050406030204" pitchFamily="18" charset="0"/>
              </a:rPr>
              <a:t>After Cleaning the dataset, the next step is Data visualization, which helps in understanding the relationships between various factors like car company, price, Distance Driven and Fuel type.</a:t>
            </a:r>
          </a:p>
          <a:p>
            <a:pPr algn="just">
              <a:lnSpc>
                <a:spcPct val="150000"/>
              </a:lnSpc>
            </a:pPr>
            <a:r>
              <a:rPr lang="en-US" sz="2000" dirty="0">
                <a:solidFill>
                  <a:schemeClr val="accent6"/>
                </a:solidFill>
                <a:ea typeface="Cambria Math" panose="02040503050406030204" pitchFamily="18" charset="0"/>
              </a:rPr>
              <a:t>Tools Used: Power BI</a:t>
            </a:r>
          </a:p>
          <a:p>
            <a:pPr marL="342900" indent="-342900" algn="just">
              <a:lnSpc>
                <a:spcPct val="150000"/>
              </a:lnSpc>
              <a:buFont typeface="Wingdings" panose="05000000000000000000" pitchFamily="2" charset="2"/>
              <a:buChar char="Ø"/>
            </a:pPr>
            <a:r>
              <a:rPr lang="en-US" sz="2000" dirty="0">
                <a:solidFill>
                  <a:schemeClr val="accent6"/>
                </a:solidFill>
                <a:ea typeface="Cambria Math" panose="02040503050406030204" pitchFamily="18" charset="0"/>
              </a:rPr>
              <a:t>For creating interactive and dynamic dashboards that allow users to filter data and explore trends across different car companies, fuel types, and etc.  </a:t>
            </a:r>
          </a:p>
          <a:p>
            <a:pPr algn="just"/>
            <a:endParaRPr lang="en-US" dirty="0">
              <a:solidFill>
                <a:schemeClr val="accent6"/>
              </a:solidFill>
              <a:ea typeface="Cambria Math" panose="02040503050406030204" pitchFamily="18" charset="0"/>
            </a:endParaRPr>
          </a:p>
          <a:p>
            <a:endParaRPr lang="en-IN" dirty="0">
              <a:solidFill>
                <a:schemeClr val="accent6"/>
              </a:solidFill>
            </a:endParaRPr>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pic>
        <p:nvPicPr>
          <p:cNvPr id="6" name="Picture 5">
            <a:extLst>
              <a:ext uri="{FF2B5EF4-FFF2-40B4-BE49-F238E27FC236}">
                <a16:creationId xmlns:a16="http://schemas.microsoft.com/office/drawing/2014/main" id="{378F6379-D96E-5BE6-49A7-DE7BE00148FD}"/>
              </a:ext>
            </a:extLst>
          </p:cNvPr>
          <p:cNvPicPr>
            <a:picLocks noChangeAspect="1"/>
          </p:cNvPicPr>
          <p:nvPr/>
        </p:nvPicPr>
        <p:blipFill>
          <a:blip r:embed="rId3"/>
          <a:stretch>
            <a:fillRect/>
          </a:stretch>
        </p:blipFill>
        <p:spPr>
          <a:xfrm>
            <a:off x="1700982" y="575460"/>
            <a:ext cx="9468464" cy="5825341"/>
          </a:xfrm>
          <a:prstGeom prst="rect">
            <a:avLst/>
          </a:prstGeom>
        </p:spPr>
      </p:pic>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pic>
        <p:nvPicPr>
          <p:cNvPr id="9" name="Picture 8">
            <a:extLst>
              <a:ext uri="{FF2B5EF4-FFF2-40B4-BE49-F238E27FC236}">
                <a16:creationId xmlns:a16="http://schemas.microsoft.com/office/drawing/2014/main" id="{88055A96-456D-A9C4-54F2-EF64DE1E5B12}"/>
              </a:ext>
            </a:extLst>
          </p:cNvPr>
          <p:cNvPicPr>
            <a:picLocks noChangeAspect="1"/>
          </p:cNvPicPr>
          <p:nvPr/>
        </p:nvPicPr>
        <p:blipFill>
          <a:blip r:embed="rId3"/>
          <a:stretch>
            <a:fillRect/>
          </a:stretch>
        </p:blipFill>
        <p:spPr>
          <a:xfrm>
            <a:off x="226142" y="562437"/>
            <a:ext cx="10864645" cy="948657"/>
          </a:xfrm>
          <a:prstGeom prst="rect">
            <a:avLst/>
          </a:prstGeom>
        </p:spPr>
      </p:pic>
      <p:pic>
        <p:nvPicPr>
          <p:cNvPr id="11" name="Picture 10">
            <a:extLst>
              <a:ext uri="{FF2B5EF4-FFF2-40B4-BE49-F238E27FC236}">
                <a16:creationId xmlns:a16="http://schemas.microsoft.com/office/drawing/2014/main" id="{7228F415-0E92-EAC5-F75D-8B21E2C82A1E}"/>
              </a:ext>
            </a:extLst>
          </p:cNvPr>
          <p:cNvPicPr>
            <a:picLocks noChangeAspect="1"/>
          </p:cNvPicPr>
          <p:nvPr/>
        </p:nvPicPr>
        <p:blipFill>
          <a:blip r:embed="rId4"/>
          <a:stretch>
            <a:fillRect/>
          </a:stretch>
        </p:blipFill>
        <p:spPr>
          <a:xfrm>
            <a:off x="226142" y="1793374"/>
            <a:ext cx="10864645" cy="4706761"/>
          </a:xfrm>
          <a:prstGeom prst="rect">
            <a:avLst/>
          </a:prstGeom>
        </p:spPr>
      </p:pic>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
        <p:nvSpPr>
          <p:cNvPr id="7" name="TextBox 6">
            <a:extLst>
              <a:ext uri="{FF2B5EF4-FFF2-40B4-BE49-F238E27FC236}">
                <a16:creationId xmlns:a16="http://schemas.microsoft.com/office/drawing/2014/main" id="{16CE3A1C-D387-579C-328A-2F8A1A22796A}"/>
              </a:ext>
            </a:extLst>
          </p:cNvPr>
          <p:cNvSpPr txBox="1"/>
          <p:nvPr/>
        </p:nvSpPr>
        <p:spPr>
          <a:xfrm>
            <a:off x="3190567" y="605522"/>
            <a:ext cx="6105832" cy="646331"/>
          </a:xfrm>
          <a:prstGeom prst="rect">
            <a:avLst/>
          </a:prstGeom>
          <a:noFill/>
        </p:spPr>
        <p:txBody>
          <a:bodyPr wrap="square">
            <a:spAutoFit/>
          </a:bodyPr>
          <a:lstStyle/>
          <a:p>
            <a:pPr algn="ctr"/>
            <a:r>
              <a:rPr lang="en-US" sz="3600" b="1" dirty="0">
                <a:solidFill>
                  <a:schemeClr val="accent6"/>
                </a:solidFill>
                <a:latin typeface="+mj-lt"/>
                <a:ea typeface="Cambria Math" panose="02040503050406030204" pitchFamily="18" charset="0"/>
              </a:rPr>
              <a:t>VISUALIZATIONS</a:t>
            </a:r>
            <a:endParaRPr lang="en-IN" sz="3600" b="1" dirty="0">
              <a:solidFill>
                <a:schemeClr val="accent6"/>
              </a:solidFill>
              <a:latin typeface="+mj-lt"/>
              <a:ea typeface="Cambria Math" panose="02040503050406030204" pitchFamily="18" charset="0"/>
            </a:endParaRPr>
          </a:p>
        </p:txBody>
      </p:sp>
      <p:pic>
        <p:nvPicPr>
          <p:cNvPr id="9" name="Picture 8">
            <a:extLst>
              <a:ext uri="{FF2B5EF4-FFF2-40B4-BE49-F238E27FC236}">
                <a16:creationId xmlns:a16="http://schemas.microsoft.com/office/drawing/2014/main" id="{FD1A20AE-91B9-7FC2-BAD5-37209F42BA53}"/>
              </a:ext>
            </a:extLst>
          </p:cNvPr>
          <p:cNvPicPr>
            <a:picLocks noChangeAspect="1"/>
          </p:cNvPicPr>
          <p:nvPr/>
        </p:nvPicPr>
        <p:blipFill>
          <a:blip r:embed="rId3"/>
          <a:stretch>
            <a:fillRect/>
          </a:stretch>
        </p:blipFill>
        <p:spPr>
          <a:xfrm>
            <a:off x="560440" y="1504335"/>
            <a:ext cx="11041626" cy="5003168"/>
          </a:xfrm>
          <a:prstGeom prst="rect">
            <a:avLst/>
          </a:prstGeom>
        </p:spPr>
      </p:pic>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pic>
        <p:nvPicPr>
          <p:cNvPr id="13" name="Picture 12">
            <a:extLst>
              <a:ext uri="{FF2B5EF4-FFF2-40B4-BE49-F238E27FC236}">
                <a16:creationId xmlns:a16="http://schemas.microsoft.com/office/drawing/2014/main" id="{178EB263-738D-C7D8-48E6-B3E5010335E6}"/>
              </a:ext>
            </a:extLst>
          </p:cNvPr>
          <p:cNvPicPr>
            <a:picLocks noChangeAspect="1"/>
          </p:cNvPicPr>
          <p:nvPr/>
        </p:nvPicPr>
        <p:blipFill>
          <a:blip r:embed="rId3"/>
          <a:stretch>
            <a:fillRect/>
          </a:stretch>
        </p:blipFill>
        <p:spPr>
          <a:xfrm>
            <a:off x="616253" y="523470"/>
            <a:ext cx="5925377" cy="2905530"/>
          </a:xfrm>
          <a:prstGeom prst="rect">
            <a:avLst/>
          </a:prstGeom>
        </p:spPr>
      </p:pic>
      <p:pic>
        <p:nvPicPr>
          <p:cNvPr id="15" name="Picture 14">
            <a:extLst>
              <a:ext uri="{FF2B5EF4-FFF2-40B4-BE49-F238E27FC236}">
                <a16:creationId xmlns:a16="http://schemas.microsoft.com/office/drawing/2014/main" id="{1E24145D-6AA7-BCF3-6E4E-F07A3398107A}"/>
              </a:ext>
            </a:extLst>
          </p:cNvPr>
          <p:cNvPicPr>
            <a:picLocks noChangeAspect="1"/>
          </p:cNvPicPr>
          <p:nvPr/>
        </p:nvPicPr>
        <p:blipFill>
          <a:blip r:embed="rId4"/>
          <a:stretch>
            <a:fillRect/>
          </a:stretch>
        </p:blipFill>
        <p:spPr>
          <a:xfrm>
            <a:off x="3578941" y="3666680"/>
            <a:ext cx="7544853" cy="3038920"/>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
        <p:nvSpPr>
          <p:cNvPr id="9" name="TextBox 8">
            <a:extLst>
              <a:ext uri="{FF2B5EF4-FFF2-40B4-BE49-F238E27FC236}">
                <a16:creationId xmlns:a16="http://schemas.microsoft.com/office/drawing/2014/main" id="{FB23D6EC-7848-9D82-702C-95411F6094EA}"/>
              </a:ext>
            </a:extLst>
          </p:cNvPr>
          <p:cNvSpPr txBox="1"/>
          <p:nvPr/>
        </p:nvSpPr>
        <p:spPr>
          <a:xfrm>
            <a:off x="3048000" y="676435"/>
            <a:ext cx="6096000" cy="646331"/>
          </a:xfrm>
          <a:prstGeom prst="rect">
            <a:avLst/>
          </a:prstGeom>
          <a:noFill/>
        </p:spPr>
        <p:txBody>
          <a:bodyPr wrap="square">
            <a:spAutoFit/>
          </a:bodyPr>
          <a:lstStyle/>
          <a:p>
            <a:pPr algn="ctr"/>
            <a:r>
              <a:rPr lang="en-US" sz="3600" b="1" dirty="0">
                <a:solidFill>
                  <a:schemeClr val="accent6"/>
                </a:solidFill>
                <a:latin typeface="+mj-lt"/>
                <a:ea typeface="Cambria Math" panose="02040503050406030204" pitchFamily="18" charset="0"/>
              </a:rPr>
              <a:t>CHALLENGES FACED </a:t>
            </a:r>
            <a:endParaRPr lang="en-IN" sz="3600" b="1" dirty="0">
              <a:solidFill>
                <a:schemeClr val="accent6"/>
              </a:solidFill>
              <a:latin typeface="+mj-lt"/>
              <a:ea typeface="Cambria Math" panose="02040503050406030204" pitchFamily="18" charset="0"/>
            </a:endParaRPr>
          </a:p>
        </p:txBody>
      </p:sp>
      <p:sp>
        <p:nvSpPr>
          <p:cNvPr id="11" name="TextBox 10">
            <a:extLst>
              <a:ext uri="{FF2B5EF4-FFF2-40B4-BE49-F238E27FC236}">
                <a16:creationId xmlns:a16="http://schemas.microsoft.com/office/drawing/2014/main" id="{D7B4E6C3-A95F-7537-CD6B-1FBDF1209B32}"/>
              </a:ext>
            </a:extLst>
          </p:cNvPr>
          <p:cNvSpPr txBox="1"/>
          <p:nvPr/>
        </p:nvSpPr>
        <p:spPr>
          <a:xfrm>
            <a:off x="1262974" y="1835663"/>
            <a:ext cx="9666052" cy="4200637"/>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000" dirty="0">
                <a:solidFill>
                  <a:schemeClr val="accent6"/>
                </a:solidFill>
                <a:ea typeface="Cambria Math" panose="02040503050406030204" pitchFamily="18" charset="0"/>
              </a:rPr>
              <a:t>Initially, Data extraction using </a:t>
            </a:r>
            <a:r>
              <a:rPr lang="en-US" sz="2000" dirty="0" err="1">
                <a:solidFill>
                  <a:schemeClr val="accent6"/>
                </a:solidFill>
                <a:ea typeface="Cambria Math" panose="02040503050406030204" pitchFamily="18" charset="0"/>
              </a:rPr>
              <a:t>BeautifulSoup</a:t>
            </a:r>
            <a:r>
              <a:rPr lang="en-US" sz="2000" dirty="0">
                <a:solidFill>
                  <a:schemeClr val="accent6"/>
                </a:solidFill>
                <a:ea typeface="Cambria Math" panose="02040503050406030204" pitchFamily="18" charset="0"/>
              </a:rPr>
              <a:t> was unsuccessful due to the dynamic nature of the website and JavaScript-rendered content. To overcome this limitation, Selenium was used to automate browser interactions and successfully fetch the required data. </a:t>
            </a:r>
          </a:p>
          <a:p>
            <a:pPr algn="just">
              <a:lnSpc>
                <a:spcPct val="150000"/>
              </a:lnSpc>
            </a:pPr>
            <a:endParaRPr lang="en-US" sz="2000" dirty="0">
              <a:solidFill>
                <a:schemeClr val="accent6"/>
              </a:solidFill>
              <a:ea typeface="Cambria Math" panose="02040503050406030204" pitchFamily="18" charset="0"/>
            </a:endParaRPr>
          </a:p>
          <a:p>
            <a:pPr marL="342900" indent="-342900" algn="just">
              <a:lnSpc>
                <a:spcPct val="150000"/>
              </a:lnSpc>
              <a:buFont typeface="Wingdings" panose="05000000000000000000" pitchFamily="2" charset="2"/>
              <a:buChar char="Ø"/>
            </a:pPr>
            <a:r>
              <a:rPr lang="en-US" sz="2000" dirty="0">
                <a:solidFill>
                  <a:schemeClr val="accent6"/>
                </a:solidFill>
                <a:ea typeface="Cambria Math" panose="02040503050406030204" pitchFamily="18" charset="0"/>
              </a:rPr>
              <a:t>The dataset contained missing values, inconsistent data formats (such as price, distance driven, and EMI), and incorrect or unrealistic entries. These issues were overcome by performing data cleaning techniques including handling missing values, standardizing units and formats</a:t>
            </a:r>
          </a:p>
        </p:txBody>
      </p:sp>
    </p:spTree>
    <p:extLst>
      <p:ext uri="{BB962C8B-B14F-4D97-AF65-F5344CB8AC3E}">
        <p14:creationId xmlns:p14="http://schemas.microsoft.com/office/powerpoint/2010/main" val="3969996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049F157-F7D2-2F03-753D-6DC38FEE66C0}"/>
              </a:ext>
            </a:extLst>
          </p:cNvPr>
          <p:cNvSpPr txBox="1"/>
          <p:nvPr/>
        </p:nvSpPr>
        <p:spPr>
          <a:xfrm>
            <a:off x="1632155" y="1121531"/>
            <a:ext cx="10068232" cy="3277307"/>
          </a:xfrm>
          <a:prstGeom prst="rect">
            <a:avLst/>
          </a:prstGeom>
          <a:noFill/>
        </p:spPr>
        <p:txBody>
          <a:bodyPr wrap="square">
            <a:spAutoFit/>
          </a:bodyPr>
          <a:lstStyle/>
          <a:p>
            <a:pPr marL="342900" marR="33655" lvl="0" indent="-342900" algn="just" fontAlgn="base">
              <a:lnSpc>
                <a:spcPct val="150000"/>
              </a:lnSpc>
              <a:spcAft>
                <a:spcPts val="30"/>
              </a:spcAft>
              <a:buClr>
                <a:srgbClr val="000000"/>
              </a:buClr>
              <a:buSzPts val="1600"/>
              <a:buFont typeface="Wingdings" panose="05000000000000000000" pitchFamily="2" charset="2"/>
              <a:buChar char=""/>
            </a:pPr>
            <a:r>
              <a:rPr lang="en-IN" sz="2000" b="1" u="none" strike="noStrike" kern="100" dirty="0">
                <a:solidFill>
                  <a:schemeClr val="accent6"/>
                </a:solidFill>
                <a:effectLst/>
                <a:uFill>
                  <a:solidFill>
                    <a:srgbClr val="000000"/>
                  </a:solidFill>
                </a:uFill>
                <a:ea typeface="Wingdings" panose="05000000000000000000" pitchFamily="2" charset="2"/>
                <a:cs typeface="Wingdings" panose="05000000000000000000" pitchFamily="2" charset="2"/>
              </a:rPr>
              <a:t>Incomplete Data Loading Despite Auto-Scrolling:</a:t>
            </a:r>
            <a:endParaRPr lang="en-IN" sz="2000" u="none" strike="noStrike" kern="100" dirty="0">
              <a:solidFill>
                <a:schemeClr val="accent6"/>
              </a:solidFill>
              <a:effectLst/>
              <a:uFill>
                <a:solidFill>
                  <a:srgbClr val="000000"/>
                </a:solidFill>
              </a:uFill>
              <a:ea typeface="Wingdings" panose="05000000000000000000" pitchFamily="2" charset="2"/>
              <a:cs typeface="Wingdings" panose="05000000000000000000" pitchFamily="2" charset="2"/>
            </a:endParaRPr>
          </a:p>
          <a:p>
            <a:pPr marL="6350" marR="33655" indent="-6350" algn="just">
              <a:lnSpc>
                <a:spcPct val="150000"/>
              </a:lnSpc>
              <a:spcAft>
                <a:spcPts val="30"/>
              </a:spcAft>
              <a:buNone/>
            </a:pPr>
            <a:br>
              <a:rPr lang="en-IN" sz="2000" kern="100" dirty="0">
                <a:solidFill>
                  <a:schemeClr val="accent6"/>
                </a:solidFill>
                <a:effectLst/>
                <a:ea typeface="Calibri" panose="020F0502020204030204" pitchFamily="34" charset="0"/>
              </a:rPr>
            </a:br>
            <a:r>
              <a:rPr lang="en-IN" sz="2000" kern="100" dirty="0">
                <a:solidFill>
                  <a:schemeClr val="accent6"/>
                </a:solidFill>
                <a:effectLst/>
                <a:ea typeface="Calibri" panose="020F0502020204030204" pitchFamily="34" charset="0"/>
              </a:rPr>
              <a:t>Even after implementing Selenium-based auto-scrolling, the webpage initially appeared to load all available listings. However, upon verification, only a limited number of records (approximately 20–30 cars) were actually captured. This issue occurred due to lazy loading and dynamic rendering mechanisms used by the website, requiring additional validation logic and repeated scrolling checks to ensure complete data extraction. </a:t>
            </a:r>
          </a:p>
        </p:txBody>
      </p:sp>
    </p:spTree>
    <p:extLst>
      <p:ext uri="{BB962C8B-B14F-4D97-AF65-F5344CB8AC3E}">
        <p14:creationId xmlns:p14="http://schemas.microsoft.com/office/powerpoint/2010/main" val="2498021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dirty="0"/>
          </a:p>
        </p:txBody>
      </p:sp>
      <p:sp>
        <p:nvSpPr>
          <p:cNvPr id="9" name="TextBox 1">
            <a:extLst>
              <a:ext uri="{FF2B5EF4-FFF2-40B4-BE49-F238E27FC236}">
                <a16:creationId xmlns:a16="http://schemas.microsoft.com/office/drawing/2014/main" id="{BE7B2D64-1514-8ED9-CCFD-B9956F440B4D}"/>
              </a:ext>
            </a:extLst>
          </p:cNvPr>
          <p:cNvSpPr txBox="1"/>
          <p:nvPr/>
        </p:nvSpPr>
        <p:spPr>
          <a:xfrm>
            <a:off x="3293810" y="480360"/>
            <a:ext cx="5821680"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b="1" dirty="0">
                <a:solidFill>
                  <a:schemeClr val="accent6"/>
                </a:solidFill>
                <a:latin typeface="+mj-lt"/>
                <a:ea typeface="Cambria Math" panose="02040503050406030204" pitchFamily="18" charset="0"/>
              </a:rPr>
              <a:t>CONCLUSION</a:t>
            </a:r>
            <a:endParaRPr lang="en-IN" sz="3200" b="1" dirty="0">
              <a:solidFill>
                <a:schemeClr val="accent6"/>
              </a:solidFill>
              <a:latin typeface="+mj-lt"/>
              <a:ea typeface="Cambria Math" panose="02040503050406030204" pitchFamily="18" charset="0"/>
            </a:endParaRPr>
          </a:p>
        </p:txBody>
      </p:sp>
      <p:sp>
        <p:nvSpPr>
          <p:cNvPr id="10" name="TextBox 2">
            <a:extLst>
              <a:ext uri="{FF2B5EF4-FFF2-40B4-BE49-F238E27FC236}">
                <a16:creationId xmlns:a16="http://schemas.microsoft.com/office/drawing/2014/main" id="{C73BEA89-EA5F-7E86-E9EA-0FCAD8CA6411}"/>
              </a:ext>
            </a:extLst>
          </p:cNvPr>
          <p:cNvSpPr txBox="1"/>
          <p:nvPr/>
        </p:nvSpPr>
        <p:spPr>
          <a:xfrm>
            <a:off x="951930" y="1727200"/>
            <a:ext cx="10288140" cy="373897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lgn="just">
              <a:lnSpc>
                <a:spcPct val="150000"/>
              </a:lnSpc>
              <a:buFont typeface="Wingdings" panose="05000000000000000000" pitchFamily="2" charset="2"/>
              <a:buChar char="Ø"/>
            </a:pPr>
            <a:r>
              <a:rPr lang="en-US" sz="2000" dirty="0">
                <a:solidFill>
                  <a:schemeClr val="accent6"/>
                </a:solidFill>
                <a:ea typeface="Cambria Math" panose="02040503050406030204" pitchFamily="18" charset="0"/>
              </a:rPr>
              <a:t>This analysis shows that car price is mainly influenced by company, vehicle age, and usage, with clear depreciation as car age and distance driven increase. </a:t>
            </a:r>
          </a:p>
          <a:p>
            <a:pPr marL="342900" indent="-342900" algn="just">
              <a:lnSpc>
                <a:spcPct val="150000"/>
              </a:lnSpc>
              <a:buFont typeface="Wingdings" panose="05000000000000000000" pitchFamily="2" charset="2"/>
              <a:buChar char="Ø"/>
            </a:pPr>
            <a:r>
              <a:rPr lang="en-US" sz="2000" dirty="0">
                <a:solidFill>
                  <a:schemeClr val="accent6"/>
                </a:solidFill>
                <a:ea typeface="Cambria Math" panose="02040503050406030204" pitchFamily="18" charset="0"/>
              </a:rPr>
              <a:t>Petrol cars dominate the market and most used cars fall in the mid-price and mid-age segments. </a:t>
            </a:r>
          </a:p>
          <a:p>
            <a:pPr marL="342900" indent="-342900" algn="just">
              <a:lnSpc>
                <a:spcPct val="150000"/>
              </a:lnSpc>
              <a:buFont typeface="Wingdings" panose="05000000000000000000" pitchFamily="2" charset="2"/>
              <a:buChar char="Ø"/>
            </a:pPr>
            <a:r>
              <a:rPr lang="en-US" sz="2000" dirty="0">
                <a:solidFill>
                  <a:schemeClr val="accent6"/>
                </a:solidFill>
                <a:ea typeface="Cambria Math" panose="02040503050406030204" pitchFamily="18" charset="0"/>
              </a:rPr>
              <a:t>By understanding factors such as company, car age, usage, and customer demand, sellers can price vehicles more accurately. </a:t>
            </a:r>
          </a:p>
          <a:p>
            <a:pPr marL="342900" indent="-342900" algn="just">
              <a:lnSpc>
                <a:spcPct val="150000"/>
              </a:lnSpc>
              <a:buFont typeface="Wingdings" panose="05000000000000000000" pitchFamily="2" charset="2"/>
              <a:buChar char="Ø"/>
            </a:pPr>
            <a:r>
              <a:rPr lang="en-US" sz="2000" dirty="0">
                <a:solidFill>
                  <a:schemeClr val="accent6"/>
                </a:solidFill>
                <a:ea typeface="Cambria Math" panose="02040503050406030204" pitchFamily="18" charset="0"/>
              </a:rPr>
              <a:t>These insights help improve sales planning, meet customer expectations, and stay competitive in the used car market. </a:t>
            </a:r>
          </a:p>
        </p:txBody>
      </p:sp>
    </p:spTree>
    <p:extLst>
      <p:ext uri="{BB962C8B-B14F-4D97-AF65-F5344CB8AC3E}">
        <p14:creationId xmlns:p14="http://schemas.microsoft.com/office/powerpoint/2010/main" val="1686213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{1152FF3F-2AC4-47D3-8FEE-1655CEE408AC}TF8a9b5915-b8c7-461e-8cdd-693d48b5e32371f7b7e2_win32-4bf0b9a2ea37</Template>
  <TotalTime>38</TotalTime>
  <Words>658</Words>
  <Application>Microsoft Office PowerPoint</Application>
  <PresentationFormat>Widescreen</PresentationFormat>
  <Paragraphs>53</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Black</vt:lpstr>
      <vt:lpstr>Calibri</vt:lpstr>
      <vt:lpstr>Cambria Math</vt:lpstr>
      <vt:lpstr>Sabon Next LT</vt:lpstr>
      <vt:lpstr>Wingdings</vt:lpstr>
      <vt:lpstr>Custom</vt:lpstr>
      <vt:lpstr>USED CARS PRICE ANALYSIS</vt:lpstr>
      <vt:lpstr>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 Santhan Venkata Akshai Allu</dc:creator>
  <cp:lastModifiedBy>Sri Santhan Venkata Akshai Allu</cp:lastModifiedBy>
  <cp:revision>1</cp:revision>
  <dcterms:created xsi:type="dcterms:W3CDTF">2026-02-06T19:11:42Z</dcterms:created>
  <dcterms:modified xsi:type="dcterms:W3CDTF">2026-02-06T19:50:36Z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